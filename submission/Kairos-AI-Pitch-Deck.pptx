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1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GOOGLE CLOUD AI BUILDER CUP 2026  ·  JAPAC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000" b="1">
                <a:solidFill>
                  <a:srgbClr val="F4F7FB"/>
                </a:solidFill>
                <a:latin typeface="Calibri"/>
              </a:rPr>
              <a:t>Kairos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DD4BF"/>
                </a:solidFill>
                <a:latin typeface="Calibri"/>
              </a:rPr>
              <a:t>An expert reliability engineer inside every power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3C8"/>
                </a:solidFill>
                <a:latin typeface="Calibri"/>
              </a:rPr>
              <a:t>Autonomous, remote fault diagnosis and self-healing for critical power infrastructure — catching the moment to act, before downtime.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37760"/>
            <a:ext cx="3017520" cy="457200"/>
          </a:xfrm>
          <a:prstGeom prst="roundRect">
            <a:avLst>
              <a:gd name="adj" fmla="val 30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Theme · Manufacturing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4937760"/>
            <a:ext cx="3200400" cy="457200"/>
          </a:xfrm>
          <a:prstGeom prst="roundRect">
            <a:avLst>
              <a:gd name="adj" fmla="val 30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Gemini 2.5 Flash · Vertex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937760"/>
            <a:ext cx="2926080" cy="457200"/>
          </a:xfrm>
          <a:prstGeom prst="roundRect">
            <a:avLst>
              <a:gd name="adj" fmla="val 30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Deployed on Cloud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Live: kairos-ai-498775210896.asia-south1.run.app     ·     github.com/puneetpahuja-eaton/kairos-ai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A524"/>
                </a:solidFill>
                <a:latin typeface="Calibri"/>
              </a:rPr>
              <a:t>THE PROBLEM — AND OUR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Today, finding a fault needs a human on 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440680" cy="338328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40680" cy="109728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5A524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4F7FB"/>
                </a:solidFill>
                <a:latin typeface="Calibri"/>
              </a:rPr>
              <a:t>A fault is only caught when someone notices an alarm, reports it, and waits for an engineer to travel to site. Downtime compounds — and expert engineers are scarce and can't be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•  No root-cause intelligence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Tools only alert; they don't explain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•  No prediction or correlation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Cascading alarms hide the true cause.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1538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7FB"/>
                </a:solidFill>
                <a:latin typeface="Calibri"/>
              </a:rPr>
              <a:t>•  No closed-loop remediation —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Only ~10% (alerting) is automated; 90% is manual.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40680" cy="338328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440680" cy="109728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DD4BF"/>
                </a:solidFill>
                <a:latin typeface="Calibri"/>
              </a:rPr>
              <a:t>KAIROS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385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4F7FB"/>
                </a:solidFill>
                <a:latin typeface="Calibri"/>
              </a:rPr>
              <a:t>Puts an expert reliability engineer inside every device — learning it from its own documents, watching it remotely 24/7, and closing the loop from detection to verified fix.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71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DD4BF"/>
                </a:solidFill>
                <a:latin typeface="Calibri"/>
              </a:rPr>
              <a:t>Learn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Ingests datasheets &amp; logs (RAG on Vertex AI).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0156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C8DFF"/>
                </a:solidFill>
                <a:latin typeface="Calibri"/>
              </a:rPr>
              <a:t>Monitor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Watches live telemetry &amp; event logs remotely.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31335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Diagnose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Plain-English root cause, cited from the docs.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6110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5A524"/>
                </a:solidFill>
                <a:latin typeface="Calibri"/>
              </a:rPr>
              <a:t>Act &amp; Verify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Self-heals or escalates — human-approved.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DD4BF"/>
                </a:solidFill>
                <a:latin typeface="Calibri"/>
              </a:rPr>
              <a:t>APPLIES TO ANY DEVICE THAT EXPOSES TELEMETRY OR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6811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4F7FB"/>
                </a:solidFill>
                <a:latin typeface="Calibri"/>
              </a:rPr>
              <a:t>Panelboards · Meters · Switchgear · UPS &amp; batteries · PDUs · Transformers · Motors · Breakers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8815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Protecting: hospitals · water &amp; utilities · telecom · manufacturing · data centers · substations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A closed loop of five agents, guided by Gemini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86868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Gemini Knowledge &amp; Agentic Plane  ·  Gemini 2.5 Flash on Vertex AI</a:t>
            </a:r>
          </a:p>
          <a:p>
            <a:pPr algn="ctr">
              <a:spcAft>
                <a:spcPts val="3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RAG retrieval over device docs   ·   Ask / Plan / Agent assistant   ·   dataset &amp; live-monitor-plan generators</a:t>
            </a:r>
          </a:p>
        </p:txBody>
      </p:sp>
      <p:sp>
        <p:nvSpPr>
          <p:cNvPr id="6" name="Down Arrow 5"/>
          <p:cNvSpPr/>
          <p:nvPr/>
        </p:nvSpPr>
        <p:spPr>
          <a:xfrm>
            <a:off x="5230368" y="2167128"/>
            <a:ext cx="320040" cy="365760"/>
          </a:xfrm>
          <a:prstGeom prst="down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1 ·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Detects anomalies in live &amp; historic telemetry (robust-Z + Isolation Forest).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8775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4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4C8DFF"/>
                </a:solidFill>
                <a:latin typeface="Calibri"/>
              </a:rPr>
              <a:t>2 · Diagnose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Root cause via topology correlation + Gemini hypotheses with cited evidence.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2803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7492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Calibri"/>
              </a:rPr>
              <a:t>3 ·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Confidence-gated autonomy — weighs reversibility &amp; asset criticality.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6831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979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A524"/>
                </a:solidFill>
                <a:latin typeface="Calibri"/>
              </a:rPr>
              <a:t>4 · 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979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Self-heals reversible faults or hands off to a human.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08592" y="3657600"/>
            <a:ext cx="256032" cy="38404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2697480"/>
            <a:ext cx="2011680" cy="233172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2697480"/>
            <a:ext cx="2011680" cy="109728"/>
          </a:xfrm>
          <a:prstGeom prst="roundRect">
            <a:avLst>
              <a:gd name="adj" fmla="val 3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0072" y="2880360"/>
            <a:ext cx="16824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472B6"/>
                </a:solidFill>
                <a:latin typeface="Calibri"/>
              </a:rPr>
              <a:t>5 ·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364992"/>
            <a:ext cx="168249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7FB"/>
                </a:solidFill>
                <a:latin typeface="Calibri"/>
              </a:rPr>
              <a:t>Confirms the fix; scores downtime &amp; cost avoided.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5166360"/>
            <a:ext cx="4251960" cy="45720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A524"/>
                </a:solidFill>
                <a:latin typeface="Calibri"/>
              </a:rPr>
              <a:t>Human-in-the-loop approval at Decide → Act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715000"/>
            <a:ext cx="10972800" cy="457200"/>
          </a:xfrm>
          <a:prstGeom prst="roundRect">
            <a:avLst>
              <a:gd name="adj" fmla="val 20000"/>
            </a:avLst>
          </a:prstGeom>
          <a:noFill/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2DD4BF"/>
                </a:solidFill>
                <a:latin typeface="Calibri"/>
              </a:rPr>
              <a:t>↺  Continuous closed loop — Verify feeds Monitor, so the engine keeps learning  ·  one engine for live + historic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C8DFF"/>
                </a:solidFill>
                <a:latin typeface="Calibri"/>
              </a:rPr>
              <a:t>GOOGLE CLOUD &amp; GEN AI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Built end-to-end on Google 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600200" cy="86868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4F7FB"/>
                </a:solidFill>
                <a:latin typeface="Calibri"/>
              </a:rPr>
              <a:t>Field devices</a:t>
            </a:r>
          </a:p>
          <a:p>
            <a:pPr algn="ctr">
              <a:spcAft>
                <a:spcPts val="300"/>
              </a:spcAft>
            </a:pPr>
            <a:r>
              <a:rPr sz="950" b="0">
                <a:solidFill>
                  <a:srgbClr val="9FB3C8"/>
                </a:solidFill>
                <a:latin typeface="Calibri"/>
              </a:rPr>
              <a:t>REST + event logs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12848" y="1600200"/>
            <a:ext cx="32004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40" y="1280160"/>
            <a:ext cx="6949440" cy="868680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4F7FB"/>
                </a:solidFill>
                <a:latin typeface="Calibri"/>
              </a:rPr>
              <a:t>Kairos AI on Cloud Run  —  Gemini · Embeddings · Firestore · Cloud Storage · BigQuery · Secret Manager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9619488" y="1600200"/>
            <a:ext cx="320040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12680" y="1280160"/>
            <a:ext cx="1600200" cy="868680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F4F7FB"/>
                </a:solidFill>
                <a:latin typeface="Calibri"/>
              </a:rPr>
              <a:t>Engineer</a:t>
            </a:r>
          </a:p>
          <a:p>
            <a:pPr algn="ctr">
              <a:spcAft>
                <a:spcPts val="300"/>
              </a:spcAft>
            </a:pPr>
            <a:r>
              <a:rPr sz="950" b="0">
                <a:solidFill>
                  <a:srgbClr val="9FB3C8"/>
                </a:solidFill>
                <a:latin typeface="Calibri"/>
              </a:rPr>
              <a:t>dashboard · chat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377440"/>
          <a:ext cx="1106424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4663440"/>
              </a:tblGrid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4F7FB"/>
                          </a:solidFill>
                          <a:latin typeface="Calibri"/>
                        </a:rPr>
                        <a:t>Google Cloud service</a:t>
                      </a:r>
                    </a:p>
                  </a:txBody>
                  <a:tcPr marL="91440" marR="73152" marT="18288" marB="18288" anchor="ctr">
                    <a:solidFill>
                      <a:srgbClr val="4C8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4F7FB"/>
                          </a:solidFill>
                          <a:latin typeface="Calibri"/>
                        </a:rPr>
                        <a:t>Where in Kairos AI</a:t>
                      </a:r>
                    </a:p>
                  </a:txBody>
                  <a:tcPr marL="91440" marR="73152" marT="18288" marB="18288" anchor="ctr">
                    <a:solidFill>
                      <a:srgbClr val="4C8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4F7FB"/>
                          </a:solidFill>
                          <a:latin typeface="Calibri"/>
                        </a:rPr>
                        <a:t>How it is used</a:t>
                      </a:r>
                    </a:p>
                  </a:txBody>
                  <a:tcPr marL="91440" marR="73152" marT="18288" marB="18288" anchor="ctr">
                    <a:solidFill>
                      <a:srgbClr val="4C8D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Gemini 2.5 Flash · Vertex AI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Ask-the-device, Diagnose agent, generators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Grounded RCA, plain-English answers, dataset &amp; monitor-plan generation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Vertex AI Embeddings (text-embedding-004)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Data Sources · RAG retrieval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Embeds each device's docs into a per-device knowledge base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Firestore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Platform state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Users, devices, sources, chunks &amp; knowledge links — durable across instances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Cloud Storage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Telemetry &amp; datasets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Stores generated/uploaded datasets, SOPs and archives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BigQuery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Audit trail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Partitioned audit table with 30-day retention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Secret Manager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Integrations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GitHub / Confluence keys — never stored in device records</a:t>
                      </a:r>
                    </a:p>
                  </a:txBody>
                  <a:tcPr marL="91440" marR="73152" marT="18288" marB="18288" anchor="ctr">
                    <a:solidFill>
                      <a:srgbClr val="0B1B2E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DD4BF"/>
                          </a:solidFill>
                          <a:latin typeface="Calibri"/>
                        </a:rPr>
                        <a:t>Cloud Run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Serverless host; dedicated service account via ADC; scales to zero</a:t>
                      </a:r>
                    </a:p>
                  </a:txBody>
                  <a:tcPr marL="91440" marR="73152" marT="18288" marB="18288" anchor="ctr">
                    <a:solidFill>
                      <a:srgbClr val="142C4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760720"/>
            <a:ext cx="11064240" cy="475488"/>
          </a:xfrm>
          <a:prstGeom prst="roundRect">
            <a:avLst>
              <a:gd name="adj" fmla="val 7000"/>
            </a:avLst>
          </a:prstGeom>
          <a:solidFill>
            <a:srgbClr val="1C3A5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34D399"/>
                </a:solidFill>
                <a:latin typeface="Calibri"/>
              </a:rPr>
              <a:t>RULES CHECK   ✅ Google AI model: Gemini 2.5 Flash    ✅ Deployed on Cloud Run    ✅ Agentic 5-agent engine    ✅ English · functional · scalable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8016" cy="54864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918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4F7FB"/>
                </a:solidFill>
                <a:latin typeface="Calibri"/>
              </a:rPr>
              <a:t>Hours of downtime → minutes, and lives kept 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943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54480"/>
                <a:gridCol w="7315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Fault (asset)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Down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B2E"/>
                          </a:solidFill>
                          <a:latin typeface="Calibri"/>
                        </a:rPr>
                        <a:t>$ avoided</a:t>
                      </a:r>
                    </a:p>
                  </a:txBody>
                  <a:tcPr marL="73152" marR="45720" marT="18288" marB="18288" anchor="ctr">
                    <a:solidFill>
                      <a:srgbClr val="34D3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Voltage sag (Main Incomer)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40m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$34,000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Overload (Feeder PDU-2)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25m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$11,250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Battery degradation (UPS-3)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Escalated (early)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48m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$40,800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Thermal runaway (UPS-1)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55m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$46,750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Harmonic distortion (PDU-1)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35m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$15,750</a:t>
                      </a:r>
                    </a:p>
                  </a:txBody>
                  <a:tcPr marL="73152" marR="45720" marT="18288" marB="18288" anchor="ctr">
                    <a:solidFill>
                      <a:srgbClr val="142C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Breaker trip (BRK-4)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Auto-resolved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20m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F4F7FB"/>
                          </a:solidFill>
                          <a:latin typeface="Calibri"/>
                        </a:rPr>
                        <a:t>$5,000</a:t>
                      </a:r>
                    </a:p>
                  </a:txBody>
                  <a:tcPr marL="73152" marR="45720" marT="18288" marB="18288" anchor="ctr">
                    <a:solidFill>
                      <a:srgbClr val="0B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Total · 6 incidents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5 auto / 1 esc.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223m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F7FB"/>
                          </a:solidFill>
                          <a:latin typeface="Calibri"/>
                        </a:rPr>
                        <a:t>$153,550</a:t>
                      </a:r>
                    </a:p>
                  </a:txBody>
                  <a:tcPr marL="73152" marR="45720" marT="18288" marB="18288" anchor="ctr">
                    <a:solidFill>
                      <a:srgbClr val="1C3A5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6636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FB3C8"/>
                </a:solidFill>
                <a:latin typeface="Calibri"/>
              </a:rPr>
              <a:t>Illustrative synthetic scenarios — not realized savings. Rates: critical $850/min, high $450/min, medium $250/min. MTTR drops from tens of hours to 1–2 cycles.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371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472B6"/>
                </a:solidFill>
                <a:latin typeface="Calibri"/>
              </a:rPr>
              <a:t>WHY IT MATTERS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828800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20840" y="1828800"/>
            <a:ext cx="91440" cy="932688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195681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Essential services 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23042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Hospitals, water &amp; telecom stay running.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2907791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20840" y="2907791"/>
            <a:ext cx="91440" cy="932688"/>
          </a:xfrm>
          <a:prstGeom prst="roundRect">
            <a:avLst>
              <a:gd name="adj" fmla="val 30000"/>
            </a:avLst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30358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Expertise for everyone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3383279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Senior-grade diagnosis without a specialist on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3986783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20840" y="3986783"/>
            <a:ext cx="91440" cy="932688"/>
          </a:xfrm>
          <a:prstGeom prst="roundRect">
            <a:avLst>
              <a:gd name="adj" fmla="val 3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411479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46227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Early detection of fire/overload hazards prevents accidents.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65776"/>
            <a:ext cx="4937760" cy="932688"/>
          </a:xfrm>
          <a:prstGeom prst="roundRect">
            <a:avLst>
              <a:gd name="adj" fmla="val 7000"/>
            </a:avLst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20840" y="5065776"/>
            <a:ext cx="91440" cy="932688"/>
          </a:xfrm>
          <a:prstGeom prst="roundRect">
            <a:avLst>
              <a:gd name="adj" fmla="val 3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51937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4F7FB"/>
                </a:solidFill>
                <a:latin typeface="Calibri"/>
              </a:rPr>
              <a:t>Sustainability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554126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Cuts wasted energy, extends equipment life, fewer truck-rolls.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6868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FB3C8"/>
                </a:solidFill>
                <a:latin typeface="Calibri"/>
              </a:rPr>
              <a:t>Kairos AI  ·  Google Cloud AI Builder Cup 2026  ·  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43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FB3C8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2743200"/>
            <a:ext cx="5029200" cy="5029200"/>
          </a:xfrm>
          <a:prstGeom prst="ellipse">
            <a:avLst/>
          </a:prstGeom>
          <a:solidFill>
            <a:srgbClr val="142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WHY KAIROS AI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✓  Deep, real Google Cloud AI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Gemini on Vertex AI, embeddings, Firestore, Cloud Storage, BigQuery, Secret Manager, Cloud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C8DFF"/>
                </a:solidFill>
                <a:latin typeface="Calibri"/>
              </a:rPr>
              <a:t>✓  One engine, live + historic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The same five-agent brain diagnoses a dataset and a live stream.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8036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4D399"/>
                </a:solidFill>
                <a:latin typeface="Calibri"/>
              </a:rPr>
              <a:t>✓  The agent decides what to watch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It reads the datasheet to pick parameters and decode event logs.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5A524"/>
                </a:solidFill>
                <a:latin typeface="Calibri"/>
              </a:rPr>
              <a:t>✓  Honest by design  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— Offline fallbacks labeled; demo data synthetic; humans approve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F4F7FB"/>
                </a:solidFill>
                <a:latin typeface="Calibri"/>
              </a:rPr>
              <a:t>Start with one device.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2DD4BF"/>
                </a:solidFill>
                <a:latin typeface="Calibri"/>
              </a:rPr>
              <a:t>Scale to the world.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FB3C8"/>
                </a:solidFill>
                <a:latin typeface="Calibri"/>
              </a:rPr>
              <a:t>Live · kairos-ai-498775210896.asia-south1.run.app      ·      github.com/puneetpahuja-eaton/kairos-ai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0350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DD4BF"/>
                </a:solidFill>
                <a:latin typeface="Calibri"/>
              </a:rPr>
              <a:t>121 automated tests · deployed &amp; verified on Cloud Run · Firestore-backed · Gemini on Vertex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