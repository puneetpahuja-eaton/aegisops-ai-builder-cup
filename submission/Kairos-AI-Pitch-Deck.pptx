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3108960"/>
            <a:ext cx="3840480" cy="3840480"/>
          </a:xfrm>
          <a:prstGeom prst="ellipse">
            <a:avLst/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GOOGLE CLOUD AI BUILDER CUP 2026  ·  JAPAC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7200" b="1">
                <a:solidFill>
                  <a:srgbClr val="F4F7FB"/>
                </a:solidFill>
                <a:latin typeface="Calibri"/>
              </a:rPr>
              <a:t>Kairos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200400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300" b="1">
                <a:solidFill>
                  <a:srgbClr val="2DD4BF"/>
                </a:solidFill>
                <a:latin typeface="Calibri"/>
              </a:rPr>
              <a:t>An expert reliability engineer inside every power device.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Autonomous, remote fault diagnosis and self-healing for critical power infrastructure — catching the moment to act, before downtime.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5029200"/>
            <a:ext cx="3200400" cy="45720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Theme · Manufacturing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5029200"/>
            <a:ext cx="3108960" cy="45720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Gemini on Vertex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06640" y="5029200"/>
            <a:ext cx="2926080" cy="45720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Deployed on Cloud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Live: kairos-ai-498775210896.asia-south1.run.app     ·     github.com/puneetpahuja-eaton/kairos-ai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THE ARENA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Build in JAPAC. Build for the world.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The Google Cloud AI Builder Cup invites JAPAC's 15M+ developers to start with a real problem, build a working solution on Google Cloud, and prove that something built for a local need can scale globally.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60320"/>
            <a:ext cx="3429000" cy="192024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60320"/>
            <a:ext cx="3429000" cy="1097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4F7FB"/>
                </a:solidFill>
                <a:latin typeface="Calibri"/>
              </a:rPr>
              <a:t>Our theme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29184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FB3C8"/>
                </a:solidFill>
                <a:latin typeface="Calibri"/>
              </a:rPr>
              <a:t>Manufacturing — Intelligent Operations &amp; Industrial Efficiency.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560320"/>
            <a:ext cx="3429000" cy="192024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2560320"/>
            <a:ext cx="3429000" cy="109728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59" y="27889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4F7FB"/>
                </a:solidFill>
                <a:latin typeface="Calibri"/>
              </a:rPr>
              <a:t>The mandate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59" y="329184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FB3C8"/>
                </a:solidFill>
                <a:latin typeface="Calibri"/>
              </a:rPr>
              <a:t>Must use Google AI (Gemini / Gemma) and deploy on Cloud Run / GCP / Firebase.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560320"/>
            <a:ext cx="3429000" cy="192024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2560320"/>
            <a:ext cx="3429000" cy="109728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788920"/>
            <a:ext cx="2971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4F7FB"/>
                </a:solidFill>
                <a:latin typeface="Calibri"/>
              </a:rPr>
              <a:t>Our answer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291840"/>
            <a:ext cx="2971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>
                <a:solidFill>
                  <a:srgbClr val="9FB3C8"/>
                </a:solidFill>
                <a:latin typeface="Calibri"/>
              </a:rPr>
              <a:t>Kairos AI — a working, deployed, agentic reliability platform on Google Cloud.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46320"/>
            <a:ext cx="10607040" cy="118872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$30,000 prize pool      ·      In-person Grand Finale in Singapore      ·      Judged on Technical Merit &amp; Gen AI (40%), Impact (25%), Innovation (25%), UX (10%)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5A524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When power fails, someone has to be there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Calibri"/>
              </a:rPr>
              <a:t>In the field, finding a fault still needs a human physically present. By the time an alarm is noticed, reported, and an engineer travels to site, the downtime has already compounded — and expert reliability engineers are scarce and cannot be everywhere at once.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52578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7919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4F7FB"/>
                </a:solidFill>
                <a:latin typeface="Calibri"/>
              </a:rPr>
              <a:t>1.  No root-cause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13639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Tools only alert. They don't explain why sags, faults and alarms happen across panelboards and UPS systems — diagnosis stays manual and slow.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514600"/>
            <a:ext cx="52578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51460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267919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4F7FB"/>
                </a:solidFill>
                <a:latin typeface="Calibri"/>
              </a:rPr>
              <a:t>2.  Manual commissioning &amp; 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59" y="313639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Configuring devices and troubleshooting still need on-site specialists and hand analysis of telemetry — slowing deployments and raising cost.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297680"/>
            <a:ext cx="52578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29768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4622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4F7FB"/>
                </a:solidFill>
                <a:latin typeface="Calibri"/>
              </a:rPr>
              <a:t>3.  No prediction or 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91947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Monitoring lacks early warning and can't correlate cascading alarms along the chain (utility → transformer → UPS → PDU → load), masking the true cause.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297680"/>
            <a:ext cx="52578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63640" y="429768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4462272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50" b="1">
                <a:solidFill>
                  <a:srgbClr val="F4F7FB"/>
                </a:solidFill>
                <a:latin typeface="Calibri"/>
              </a:rPr>
              <a:t>4.  No closed-loop remediation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491947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9FB3C8"/>
                </a:solidFill>
                <a:latin typeface="Calibri"/>
              </a:rPr>
              <a:t>Today's systems automate only ~10% of the incident lifecycle (alerting). The other 90% — decide, act, verify — is manual, with no safe agentic workflow.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Kairos AI — the critical moment to act, before downtime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0607040" cy="109728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650" b="1">
                <a:solidFill>
                  <a:srgbClr val="F4F7FB"/>
                </a:solidFill>
                <a:latin typeface="Calibri"/>
              </a:rPr>
              <a:t>Kairos AI puts an expert reliability engineer inside every device — learning it from its own documentation, watching it remotely 24/7, and closing the loop from detection to verified fix.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26080"/>
            <a:ext cx="2560320" cy="228600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926080"/>
            <a:ext cx="2560320" cy="1097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3154680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2DD4BF"/>
                </a:solidFill>
                <a:latin typeface="Calibri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3657600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Calibri"/>
              </a:rPr>
              <a:t>Ingests each device's datasheets, register maps and event-log structure (RAG on Vertex AI).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8" y="2926080"/>
            <a:ext cx="2560320" cy="228600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47288" y="2926080"/>
            <a:ext cx="2560320" cy="109728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8456" y="3154680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4C8DFF"/>
                </a:solidFill>
                <a:latin typeface="Calibri"/>
              </a:rPr>
              <a:t>Monitor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3657600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Calibri"/>
              </a:rPr>
              <a:t>Watches live telemetry and event logs remotely, around the clock.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17336" y="2926080"/>
            <a:ext cx="2560320" cy="228600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17336" y="2926080"/>
            <a:ext cx="2560320" cy="109728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18503" y="3154680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34D399"/>
                </a:solidFill>
                <a:latin typeface="Calibri"/>
              </a:rPr>
              <a:t>Diagnose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3" y="3657600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Calibri"/>
              </a:rPr>
              <a:t>Explains the root cause in plain English, with cited evidence from the device's own docs.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87384" y="2926080"/>
            <a:ext cx="2560320" cy="228600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787384" y="2926080"/>
            <a:ext cx="2560320" cy="109728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88552" y="3154680"/>
            <a:ext cx="21579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>
                <a:solidFill>
                  <a:srgbClr val="F5A524"/>
                </a:solidFill>
                <a:latin typeface="Calibri"/>
              </a:rPr>
              <a:t>Act &amp; Verify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3657600"/>
            <a:ext cx="2157984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9FB3C8"/>
                </a:solidFill>
                <a:latin typeface="Calibri"/>
              </a:rPr>
              <a:t>Auto-resolves reversible faults or escalates — human-in-the-loop — then verifies the fix.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2DD4BF"/>
                </a:solidFill>
                <a:latin typeface="Calibri"/>
              </a:rPr>
              <a:t>Seconds, not site visits — the same five-agent engine runs on both live streams and historical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WHAT IT DOES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One platform: onboard → learn → analyze → 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37360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737360"/>
            <a:ext cx="91440" cy="150876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1" y="188366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4F7FB"/>
                </a:solidFill>
                <a:latin typeface="Calibri"/>
              </a:rPr>
              <a:t>Multi-device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1" y="2414015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Register any number of devices with role-based access (admin / engineer / viewer).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737360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59" y="1737360"/>
            <a:ext cx="91440" cy="1508760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36592" y="188366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4F7FB"/>
                </a:solidFill>
                <a:latin typeface="Calibri"/>
              </a:rPr>
              <a:t>Learn from anything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6592" y="2414015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Upload PDFs, spreadsheets, notes — or pull from GitHub &amp; Confluence. Embedded with Vertex AI into a per-device knowledge base.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737360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183879" y="1737360"/>
            <a:ext cx="91440" cy="150876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1" y="188366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4F7FB"/>
                </a:solidFill>
                <a:latin typeface="Calibri"/>
              </a:rPr>
              <a:t>Ask the device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9911" y="2414015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An agentic assistant with Ask / Plan / Agent modes — clarifies first, then generates datasets, test cases, code and monitoring plans.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20439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77240" y="3520439"/>
            <a:ext cx="91440" cy="150876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3271" y="366674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4F7FB"/>
                </a:solidFill>
                <a:latin typeface="Calibri"/>
              </a:rPr>
              <a:t>Analyze, live or historic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1" y="4197096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A five-agent engine scores uploaded datasets and live REST streams through one code path.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3520439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80559" y="3520439"/>
            <a:ext cx="91440" cy="1508760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36592" y="366674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4F7FB"/>
                </a:solidFill>
                <a:latin typeface="Calibri"/>
              </a:rPr>
              <a:t>Datasheet-driven live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36592" y="4197096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The agent reads the datasheet to choose which parameters to poll and decodes event-log codes automatically.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3520439"/>
            <a:ext cx="3429000" cy="150876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83879" y="3520439"/>
            <a:ext cx="91440" cy="150876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39911" y="3666744"/>
            <a:ext cx="2971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>
                <a:solidFill>
                  <a:srgbClr val="F4F7FB"/>
                </a:solidFill>
                <a:latin typeface="Calibri"/>
              </a:rPr>
              <a:t>Auto-resolve or escalate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39911" y="4197096"/>
            <a:ext cx="297180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Reversible faults self-heal; the rest escalate to a human — with downtime and cost avoided quantified.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WHERE IT APPLIES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From one panel to an entire fleet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6304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Any device that exposes telemetry or logs — Kairos AI learns it from its own documentation.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DEVICES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Panelboards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5146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Power &amp; energy meters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5146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Switchgear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69680" y="25146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UPS &amp; batteries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2004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PDUs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32004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Transformers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2004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Motors &amp; drives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3200400"/>
            <a:ext cx="2514600" cy="548640"/>
          </a:xfrm>
          <a:prstGeom prst="roundRect">
            <a:avLst>
              <a:gd name="adj" fmla="val 25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50" b="1">
                <a:solidFill>
                  <a:srgbClr val="F4F7FB"/>
                </a:solidFill>
                <a:latin typeface="Calibri"/>
              </a:rPr>
              <a:t>Breakers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06908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5A524"/>
                </a:solidFill>
                <a:latin typeface="Calibri"/>
              </a:rPr>
              <a:t>SECTORS WE PROTECT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480560"/>
            <a:ext cx="3429000" cy="713232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480560"/>
            <a:ext cx="91440" cy="713232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542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Hospitals &amp; clinics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480560"/>
            <a:ext cx="3429000" cy="713232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389120" y="4480560"/>
            <a:ext cx="91440" cy="713232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46542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Water &amp; utilities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4480560"/>
            <a:ext cx="3429000" cy="713232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001000" y="4480560"/>
            <a:ext cx="91440" cy="713232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465429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Telecom networks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5349240"/>
            <a:ext cx="3429000" cy="713232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5349240"/>
            <a:ext cx="91440" cy="713232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51560" y="552297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Manufacturing plants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5349240"/>
            <a:ext cx="3429000" cy="713232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0" y="5349240"/>
            <a:ext cx="91440" cy="713232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552297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Data centers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5349240"/>
            <a:ext cx="3429000" cy="713232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001000" y="5349240"/>
            <a:ext cx="91440" cy="713232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20" y="5522976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Substations &amp; grid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HIGH-LEVEL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Built end-to-end on Google Cloud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331720"/>
            <a:ext cx="2057400" cy="210312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Field power devices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Panelboard · UPS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Meter · PDU · Motor</a:t>
            </a:r>
          </a:p>
          <a:p>
            <a:pPr algn="ctr">
              <a:spcAft>
                <a:spcPts val="300"/>
              </a:spcAft>
            </a:pPr>
            <a:r>
              <a:rPr sz="600" b="0">
                <a:solidFill>
                  <a:srgbClr val="9FB3C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REST + Event logs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51760" y="3246120"/>
            <a:ext cx="457200" cy="32004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246120" y="1783080"/>
            <a:ext cx="5806440" cy="3977639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29000" y="1938528"/>
            <a:ext cx="5486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2DD4BF"/>
                </a:solidFill>
                <a:latin typeface="Calibri"/>
              </a:rPr>
              <a:t>Kairos AI  ·  Cloud Run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468880"/>
            <a:ext cx="1783080" cy="150876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Gemini on Vertex AI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reasoning &amp;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21808" y="2468880"/>
            <a:ext cx="1783080" cy="150876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Vertex Embeddings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RAG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14616" y="2468880"/>
            <a:ext cx="1783080" cy="150876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Firestore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state &amp; knowledge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9000" y="4114800"/>
            <a:ext cx="1783080" cy="150876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Cloud Storage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telemetry &amp; datasets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321808" y="4114800"/>
            <a:ext cx="1783080" cy="150876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BigQuery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partitioned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14616" y="4114800"/>
            <a:ext cx="1783080" cy="150876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2700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Secret Manager</a:t>
            </a:r>
          </a:p>
          <a:p>
            <a:pPr algn="ctr">
              <a:spcAft>
                <a:spcPts val="300"/>
              </a:spcAft>
            </a:pPr>
            <a:r>
              <a:rPr sz="1000" b="0">
                <a:solidFill>
                  <a:srgbClr val="9FB3C8"/>
                </a:solidFill>
                <a:latin typeface="Calibri"/>
              </a:rPr>
              <a:t>keys, no embedding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9144000" y="3246120"/>
            <a:ext cx="457200" cy="320040"/>
          </a:xfrm>
          <a:prstGeom prst="right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692640" y="2331720"/>
            <a:ext cx="1965960" cy="210312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4F7FB"/>
                </a:solidFill>
                <a:latin typeface="Calibri"/>
              </a:rPr>
              <a:t>Reliability engineer</a:t>
            </a:r>
          </a:p>
          <a:p>
            <a:pPr algn="ctr">
              <a:spcAft>
                <a:spcPts val="300"/>
              </a:spcAft>
            </a:pPr>
            <a:r>
              <a:rPr sz="1350" b="1">
                <a:solidFill>
                  <a:srgbClr val="F4F7FB"/>
                </a:solidFill>
                <a:latin typeface="Calibri"/>
              </a:rPr>
              <a:t>&amp; operator</a:t>
            </a:r>
          </a:p>
          <a:p>
            <a:pPr algn="ctr">
              <a:spcAft>
                <a:spcPts val="300"/>
              </a:spcAft>
            </a:pPr>
            <a:r>
              <a:rPr sz="600" b="0">
                <a:solidFill>
                  <a:srgbClr val="9FB3C8"/>
                </a:solidFill>
                <a:latin typeface="Calibri"/>
              </a:rPr>
              <a:t/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Dashboard · Chat</a:t>
            </a:r>
          </a:p>
          <a:p>
            <a:pPr algn="ctr">
              <a:spcAft>
                <a:spcPts val="3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Alerts · Work 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98932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Runs as a dedicated service account via ADC — no API keys embedded in the container. Scales to zero.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THE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A closed loop of five agents, guided by a Gemini knowledge plane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63040"/>
            <a:ext cx="10607040" cy="91440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450" b="1">
                <a:solidFill>
                  <a:srgbClr val="2DD4BF"/>
                </a:solidFill>
                <a:latin typeface="Calibri"/>
              </a:rPr>
              <a:t>Gemini Knowledge &amp; Agentic Plane</a:t>
            </a:r>
          </a:p>
          <a:p>
            <a:pPr algn="ctr">
              <a:spcAft>
                <a:spcPts val="300"/>
              </a:spcAft>
            </a:pPr>
            <a:r>
              <a:rPr sz="1150" b="0">
                <a:solidFill>
                  <a:srgbClr val="F4F7FB"/>
                </a:solidFill>
                <a:latin typeface="Calibri"/>
              </a:rPr>
              <a:t>RAG retrieval over device docs  ·  Ask / Plan / Agent assistant  ·  dataset &amp; live-monitor-plan generators</a:t>
            </a:r>
          </a:p>
        </p:txBody>
      </p:sp>
      <p:sp>
        <p:nvSpPr>
          <p:cNvPr id="6" name="Down Arrow 5"/>
          <p:cNvSpPr/>
          <p:nvPr/>
        </p:nvSpPr>
        <p:spPr>
          <a:xfrm>
            <a:off x="5230368" y="2395728"/>
            <a:ext cx="320040" cy="411480"/>
          </a:xfrm>
          <a:prstGeom prst="downArrow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971800"/>
            <a:ext cx="2011680" cy="22402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2011680" cy="1097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3154680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2DD4BF"/>
                </a:solidFill>
                <a:latin typeface="Calibri"/>
              </a:rPr>
              <a:t>1 · Monitor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611880"/>
            <a:ext cx="16824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7FB"/>
                </a:solidFill>
                <a:latin typeface="Calibri"/>
              </a:rPr>
              <a:t>Detects anomalies in live &amp; historic telemetry (robust-Z + Isolation Forest).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51760" y="3886200"/>
            <a:ext cx="237744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2971800"/>
            <a:ext cx="2011680" cy="22402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 w="15875">
            <a:solidFill>
              <a:srgbClr val="4C8D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80360" y="2971800"/>
            <a:ext cx="2011680" cy="109728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3154680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4C8DFF"/>
                </a:solidFill>
                <a:latin typeface="Calibri"/>
              </a:rPr>
              <a:t>2 · Diagnose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3611880"/>
            <a:ext cx="16824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7FB"/>
                </a:solidFill>
                <a:latin typeface="Calibri"/>
              </a:rPr>
              <a:t>Root cause via topology correlation + Gemini hypotheses with cited evidence.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92040" y="3886200"/>
            <a:ext cx="237744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20640" y="2971800"/>
            <a:ext cx="2011680" cy="22402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 w="1587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20640" y="2971800"/>
            <a:ext cx="2011680" cy="109728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85231" y="3154680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34D399"/>
                </a:solidFill>
                <a:latin typeface="Calibri"/>
              </a:rPr>
              <a:t>3 · Decide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85231" y="3611880"/>
            <a:ext cx="16824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7FB"/>
                </a:solidFill>
                <a:latin typeface="Calibri"/>
              </a:rPr>
              <a:t>Confidence-gated autonomy — weighs reversibility and asset criticality.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32320" y="3886200"/>
            <a:ext cx="237744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60920" y="2971800"/>
            <a:ext cx="2011680" cy="22402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 w="15875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360920" y="2971800"/>
            <a:ext cx="2011680" cy="109728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25512" y="3154680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5A524"/>
                </a:solidFill>
                <a:latin typeface="Calibri"/>
              </a:rPr>
              <a:t>4 · 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3611880"/>
            <a:ext cx="16824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7FB"/>
                </a:solidFill>
                <a:latin typeface="Calibri"/>
              </a:rPr>
              <a:t>Self-heals reversible faults or hands off to a human for approval.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372600" y="3886200"/>
            <a:ext cx="237744" cy="365760"/>
          </a:xfrm>
          <a:prstGeom prst="rightArrow">
            <a:avLst/>
          </a:prstGeom>
          <a:solidFill>
            <a:srgbClr val="9FB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601200" y="2971800"/>
            <a:ext cx="2011680" cy="22402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 w="15875">
            <a:solidFill>
              <a:srgbClr val="F472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601200" y="2971800"/>
            <a:ext cx="2011680" cy="109728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65792" y="3154680"/>
            <a:ext cx="168249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1">
                <a:solidFill>
                  <a:srgbClr val="F472B6"/>
                </a:solidFill>
                <a:latin typeface="Calibri"/>
              </a:rPr>
              <a:t>5 · 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65792" y="3611880"/>
            <a:ext cx="168249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F4F7FB"/>
                </a:solidFill>
                <a:latin typeface="Calibri"/>
              </a:rPr>
              <a:t>Confirms the fix worked; scores downtime and cost avoided.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20640" y="5349240"/>
            <a:ext cx="4251960" cy="50292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 w="12700">
            <a:solidFill>
              <a:srgbClr val="F5A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F5A524"/>
                </a:solidFill>
                <a:latin typeface="Calibri"/>
              </a:rPr>
              <a:t>Human-in-the-loop approval gate at Decide → Act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989320"/>
            <a:ext cx="10058400" cy="457200"/>
          </a:xfrm>
          <a:prstGeom prst="roundRect">
            <a:avLst>
              <a:gd name="adj" fmla="val 20000"/>
            </a:avLst>
          </a:prstGeom>
          <a:noFill/>
          <a:ln w="15875">
            <a:solidFill>
              <a:srgbClr val="2D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150" b="1">
                <a:solidFill>
                  <a:srgbClr val="2DD4BF"/>
                </a:solidFill>
                <a:latin typeface="Calibri"/>
              </a:rPr>
              <a:t>↺  Continuous closed loop — Verify feeds Monitor, so the engine keeps learning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34D399"/>
                </a:solidFill>
                <a:latin typeface="Calibri"/>
              </a:rPr>
              <a:t>QUANTIFIED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Hours of downtime → minutes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600200"/>
          <a:ext cx="75895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468880"/>
                <a:gridCol w="1737360"/>
                <a:gridCol w="1188720"/>
                <a:gridCol w="82296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B2E"/>
                          </a:solidFill>
                          <a:latin typeface="Calibri"/>
                        </a:rPr>
                        <a:t>Case</a:t>
                      </a:r>
                    </a:p>
                  </a:txBody>
                  <a:tcPr marL="73152" marR="54864" marT="27432" marB="27432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B2E"/>
                          </a:solidFill>
                          <a:latin typeface="Calibri"/>
                        </a:rPr>
                        <a:t>Fault (asset)</a:t>
                      </a:r>
                    </a:p>
                  </a:txBody>
                  <a:tcPr marL="73152" marR="54864" marT="27432" marB="27432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B2E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 marL="73152" marR="54864" marT="27432" marB="27432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B2E"/>
                          </a:solidFill>
                          <a:latin typeface="Calibri"/>
                        </a:rPr>
                        <a:t>Downtime avoided</a:t>
                      </a:r>
                    </a:p>
                  </a:txBody>
                  <a:tcPr marL="73152" marR="54864" marT="27432" marB="27432" anchor="ctr">
                    <a:solidFill>
                      <a:srgbClr val="2DD4B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0B1B2E"/>
                          </a:solidFill>
                          <a:latin typeface="Calibri"/>
                        </a:rPr>
                        <a:t>$ avoided</a:t>
                      </a:r>
                    </a:p>
                  </a:txBody>
                  <a:tcPr marL="73152" marR="54864" marT="27432" marB="27432" anchor="ctr">
                    <a:solidFill>
                      <a:srgbClr val="2DD4B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Voltage sag (Main Incomer)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Auto-resolved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40 min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$34,000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C002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Overload (Feeder PDU-2)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Auto-resolved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25 min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$11,250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C003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Battery degradation (UPS-3)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Escalated (early detection)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48 min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$40,800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C004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Thermal runaway (UPS-1)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Auto-resolved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55 min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$46,750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C005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Harmonic distortion (PDU-1)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Auto-resolved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35 min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$15,750</a:t>
                      </a:r>
                    </a:p>
                  </a:txBody>
                  <a:tcPr marL="73152" marR="54864" marT="27432" marB="27432" anchor="ctr">
                    <a:solidFill>
                      <a:srgbClr val="142C47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C006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Breaker trip (BRK-4)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Auto-resolved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20 min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F4F7FB"/>
                          </a:solidFill>
                          <a:latin typeface="Calibri"/>
                        </a:rPr>
                        <a:t>$5,000</a:t>
                      </a:r>
                    </a:p>
                  </a:txBody>
                  <a:tcPr marL="73152" marR="54864" marT="27432" marB="27432" anchor="ctr">
                    <a:solidFill>
                      <a:srgbClr val="0B1B2E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4F7FB"/>
                          </a:solidFill>
                          <a:latin typeface="Calibri"/>
                        </a:rPr>
                        <a:t>Total · 6 incidents</a:t>
                      </a:r>
                    </a:p>
                  </a:txBody>
                  <a:tcPr marL="73152" marR="54864" marT="27432" marB="27432" anchor="ctr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4F7FB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73152" marR="54864" marT="27432" marB="27432" anchor="ctr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4F7FB"/>
                          </a:solidFill>
                          <a:latin typeface="Calibri"/>
                        </a:rPr>
                        <a:t>5 auto / 1 escalated</a:t>
                      </a:r>
                    </a:p>
                  </a:txBody>
                  <a:tcPr marL="73152" marR="54864" marT="27432" marB="27432" anchor="ctr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4F7FB"/>
                          </a:solidFill>
                          <a:latin typeface="Calibri"/>
                        </a:rPr>
                        <a:t>223 min</a:t>
                      </a:r>
                    </a:p>
                  </a:txBody>
                  <a:tcPr marL="73152" marR="54864" marT="27432" marB="27432" anchor="ctr">
                    <a:solidFill>
                      <a:srgbClr val="1C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4F7FB"/>
                          </a:solidFill>
                          <a:latin typeface="Calibri"/>
                        </a:rPr>
                        <a:t>$153,550</a:t>
                      </a:r>
                    </a:p>
                  </a:txBody>
                  <a:tcPr marL="73152" marR="54864" marT="27432" marB="27432" anchor="ctr">
                    <a:solidFill>
                      <a:srgbClr val="1C3A5C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595360" y="160020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95360" y="1600200"/>
            <a:ext cx="91440" cy="91440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1392" y="172821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MTTR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1392" y="205740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tens of hours → 1–2 cycles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95360" y="265176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95360" y="2651760"/>
            <a:ext cx="91440" cy="914400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2779776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Truck-rolls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310896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fewer repeat visits — right-part-first RCA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95360" y="3703320"/>
            <a:ext cx="3017520" cy="91440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95360" y="3703320"/>
            <a:ext cx="91440" cy="91440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51392" y="3831335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4F7FB"/>
                </a:solidFill>
                <a:latin typeface="Calibri"/>
              </a:rPr>
              <a:t>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51392" y="4160520"/>
            <a:ext cx="2651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9FB3C8"/>
                </a:solidFill>
                <a:latin typeface="Calibri"/>
              </a:rPr>
              <a:t>becomes an outcome-based SLA you can price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77840"/>
            <a:ext cx="10881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9FB3C8"/>
                </a:solidFill>
                <a:latin typeface="Calibri"/>
              </a:rPr>
              <a:t>Illustrative synthetic scenarios — not realized production savings. Downtime cost rates: critical $850/min, high $450/min, medium $250/min. Every incident is scored against a 'no-platform' baseline.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F472B6"/>
                </a:solidFill>
                <a:latin typeface="Calibri"/>
              </a:rPr>
              <a:t>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Keeping the lights on for the communities that depend on them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4F7FB"/>
                </a:solidFill>
                <a:latin typeface="Calibri"/>
              </a:rPr>
              <a:t>Hospitals, clean-water pumping, vaccine cold-chains, telecom and schools all run on reliable power. Cutting fault response from hours to seconds protects the most vulnerable — especially in remote regions and during climate-stressed grid events.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34290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251460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2660904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7FB"/>
                </a:solidFill>
                <a:latin typeface="Calibri"/>
              </a:rPr>
              <a:t>Essential services uptime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3172968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Less downtime at hospitals, water and telecom keeps life-critical services running.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2514600"/>
            <a:ext cx="34290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480559" y="251460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2660904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7FB"/>
                </a:solidFill>
                <a:latin typeface="Calibri"/>
              </a:rPr>
              <a:t>Expertise for everyone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3172968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A junior technician — or no one on site — gets senior-engineer diagnosis grounded in the device's own manuals.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2514600"/>
            <a:ext cx="34290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3879" y="251460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39911" y="2660904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7FB"/>
                </a:solidFill>
                <a:latin typeface="Calibri"/>
              </a:rP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3172968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Overload, thermal runaway and harmonic faults are fire and injury hazards; early remote detection prevents accidents.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297680"/>
            <a:ext cx="34290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29768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443984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7FB"/>
                </a:solidFill>
                <a:latin typeface="Calibri"/>
              </a:rPr>
              <a:t>Sustainability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956048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Catches wasted energy (power factor, harmonics, imbalance), extends equipment life, and cuts diesel-backup and truck-roll emissions.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4297680"/>
            <a:ext cx="3429000" cy="155448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480559" y="4297680"/>
            <a:ext cx="91440" cy="1554480"/>
          </a:xfrm>
          <a:prstGeom prst="roundRect">
            <a:avLst>
              <a:gd name="adj" fmla="val 30000"/>
            </a:avLst>
          </a:prstGeom>
          <a:solidFill>
            <a:srgbClr val="F472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36592" y="4443984"/>
            <a:ext cx="2971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F4F7FB"/>
                </a:solidFill>
                <a:latin typeface="Calibri"/>
              </a:rPr>
              <a:t>Resilience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4956048"/>
            <a:ext cx="2971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9FB3C8"/>
                </a:solidFill>
                <a:latin typeface="Calibri"/>
              </a:rPr>
              <a:t>Faster autonomous response hardens critical infrastructure against outages as grids come under stress.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28016" cy="566928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4048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DD4BF"/>
                </a:solidFill>
                <a:latin typeface="Calibri"/>
              </a:rPr>
              <a:t>WHY KAIROS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603504"/>
            <a:ext cx="107899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900" b="1">
                <a:solidFill>
                  <a:srgbClr val="F4F7FB"/>
                </a:solidFill>
                <a:latin typeface="Calibri"/>
              </a:rPr>
              <a:t>Meaningful Gen AI, honest by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91440" cy="1691640"/>
          </a:xfrm>
          <a:prstGeom prst="roundRect">
            <a:avLst>
              <a:gd name="adj" fmla="val 30000"/>
            </a:avLst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4F7FB"/>
                </a:solidFill>
                <a:latin typeface="Calibri"/>
              </a:rPr>
              <a:t>Deep, real Google Cloud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40487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Calibri"/>
              </a:rPr>
              <a:t>Gemini on Vertex AI, Vertex embeddings, Firestore, Cloud Storage, BigQuery, Secret Manager, Cloud Run — not a token API call.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9164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63640" y="1691640"/>
            <a:ext cx="91440" cy="1691640"/>
          </a:xfrm>
          <a:prstGeom prst="roundRect">
            <a:avLst>
              <a:gd name="adj" fmla="val 30000"/>
            </a:avLst>
          </a:prstGeom>
          <a:solidFill>
            <a:srgbClr val="4C8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37959" y="187452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4F7FB"/>
                </a:solidFill>
                <a:latin typeface="Calibri"/>
              </a:rPr>
              <a:t>One engine, live + historic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59" y="240487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Calibri"/>
              </a:rPr>
              <a:t>The same five-agent brain diagnoses a replayed dataset and a live warm-up-then-stream — a genuine differentiator.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61188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77240" y="3611880"/>
            <a:ext cx="91440" cy="1691640"/>
          </a:xfrm>
          <a:prstGeom prst="roundRect">
            <a:avLst>
              <a:gd name="adj" fmla="val 3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7947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4F7FB"/>
                </a:solidFill>
                <a:latin typeface="Calibri"/>
              </a:rPr>
              <a:t>The agent decides what to watch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32511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Calibri"/>
              </a:rPr>
              <a:t>It reads the datasheet to pick parameters and thresholds and decodes event logs — monitoring configures itself.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11880"/>
            <a:ext cx="5257800" cy="1691640"/>
          </a:xfrm>
          <a:prstGeom prst="roundRect">
            <a:avLst>
              <a:gd name="adj" fmla="val 7000"/>
            </a:avLst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63640" y="3611880"/>
            <a:ext cx="91440" cy="1691640"/>
          </a:xfrm>
          <a:prstGeom prst="roundRect">
            <a:avLst>
              <a:gd name="adj" fmla="val 30000"/>
            </a:avLst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59" y="3794760"/>
            <a:ext cx="4754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>
                <a:solidFill>
                  <a:srgbClr val="F4F7FB"/>
                </a:solidFill>
                <a:latin typeface="Calibri"/>
              </a:rPr>
              <a:t>Honest by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59" y="4325112"/>
            <a:ext cx="4754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9FB3C8"/>
                </a:solidFill>
                <a:latin typeface="Calibri"/>
              </a:rPr>
              <a:t>Offline fallbacks are labeled and never shown as Google AI; demo data is synthetic and disclosed; humans approve every action.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" y="5303520"/>
            <a:ext cx="10607040" cy="731520"/>
          </a:xfrm>
          <a:prstGeom prst="roundRect">
            <a:avLst>
              <a:gd name="adj" fmla="val 7000"/>
            </a:avLst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121 automated tests  ·  deployed &amp; verified on Cloud Run  ·  Firestore-backed  ·  Gemini on Vertex 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28232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9FB3C8"/>
                </a:solidFill>
                <a:latin typeface="Calibri"/>
              </a:rPr>
              <a:t>Kairos AI  ·  Google Cloud AI Builder Cup 2026  ·  Manufacturing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28232"/>
            <a:ext cx="1143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</a:pPr>
            <a:r>
              <a:rPr sz="950" b="1">
                <a:solidFill>
                  <a:srgbClr val="9FB3C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DD4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961120" y="2743200"/>
            <a:ext cx="5029200" cy="5029200"/>
          </a:xfrm>
          <a:prstGeom prst="ellipse">
            <a:avLst/>
          </a:prstGeom>
          <a:solidFill>
            <a:srgbClr val="142C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20240"/>
            <a:ext cx="10241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DD4BF"/>
                </a:solidFill>
                <a:latin typeface="Calibri"/>
              </a:rPr>
              <a:t>THE VISION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42416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F4F7FB"/>
                </a:solidFill>
                <a:latin typeface="Calibri"/>
              </a:rPr>
              <a:t>Start with one device.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>
                <a:solidFill>
                  <a:srgbClr val="2DD4BF"/>
                </a:solidFill>
                <a:latin typeface="Calibri"/>
              </a:rPr>
              <a:t>Scale to the world.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20624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9FB3C8"/>
                </a:solidFill>
                <a:latin typeface="Calibri"/>
              </a:rPr>
              <a:t>Kairos AI turns every power device into its own reliability engineer — so the communities that depend on reliable power are never left waiting in the dark.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5212080"/>
            <a:ext cx="5120640" cy="502920"/>
          </a:xfrm>
          <a:prstGeom prst="roundRect">
            <a:avLst>
              <a:gd name="adj" fmla="val 25000"/>
            </a:avLst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Live  ·  kairos-ai-498775210896.asia-south1.run.app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5212080"/>
            <a:ext cx="3931920" cy="502920"/>
          </a:xfrm>
          <a:prstGeom prst="roundRect">
            <a:avLst>
              <a:gd name="adj" fmla="val 25000"/>
            </a:avLst>
          </a:prstGeom>
          <a:solidFill>
            <a:srgbClr val="1C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>
              <a:spcAft>
                <a:spcPts val="300"/>
              </a:spcAft>
            </a:pPr>
            <a:r>
              <a:rPr sz="1200" b="1">
                <a:solidFill>
                  <a:srgbClr val="F4F7FB"/>
                </a:solidFill>
                <a:latin typeface="Calibri"/>
              </a:rPr>
              <a:t>github.com/puneetpahuja-eaton/kairos-ai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2DD4BF"/>
                </a:solidFill>
                <a:latin typeface="Calibri"/>
              </a:rPr>
              <a:t>Kairos AI — the moment to act, every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